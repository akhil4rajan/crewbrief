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1fa20a-c4d4-dfa6-344e-9673b6ad9ecf}">
          <p14:sldIdLst>
            <p14:sldId id="256"/>
          </p14:sldIdLst>
        </p14:section>
        <p14:section name="Problem" id="{228cfb64-3259-0cb4-5849-9d36293a7d38}">
          <p14:sldIdLst>
            <p14:sldId id="257"/>
            <p14:sldId id="258"/>
          </p14:sldIdLst>
        </p14:section>
        <p14:section name="Solution" id="{6e4eb19a-d9b0-9c2f-6db3-5824bd23261b}">
          <p14:sldIdLst>
            <p14:sldId id="259"/>
          </p14:sldIdLst>
        </p14:section>
        <p14:section name="Demo" id="{2f241647-dd85-eb3d-a0b0-16611a62fd52}">
          <p14:sldIdLst>
            <p14:sldId id="260"/>
          </p14:sldIdLst>
        </p14:section>
        <p14:section name="Trust" id="{dc54f09a-f0b2-00b7-75af-41ad1ad50f94}">
          <p14:sldIdLst>
            <p14:sldId id="261"/>
            <p14:sldId id="262"/>
          </p14:sldIdLst>
        </p14:section>
        <p14:section name="Platform" id="{86b52ac5-bd82-c78f-0fce-1585aad74985}">
          <p14:sldIdLst>
            <p14:sldId id="263"/>
            <p14:sldId id="264"/>
          </p14:sldIdLst>
        </p14:section>
        <p14:section name="Impact" id="{d56e155f-f441-9086-0f49-b3d053a59ce2}">
          <p14:sldIdLst>
            <p14:sldId id="265"/>
            <p14:sldId id="266"/>
          </p14:sldIdLst>
        </p14:section>
        <p14:section name="Close" id="{6afd57b7-f1b6-1cd5-71f5-e4d6cbf7141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35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B2A35"/>
                </a:solidFill>
                <a:latin typeface="+mn-lt"/>
              </a:rPr>
              <a:t>Minutes per hazard assessment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form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6B1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3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With CrewBrief (review)</c:v>
                  </c:pt>
                  <c:pt idx="1">
                    <c:v>By hand today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D53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CrewBrief listens to the briefing crews already do and drafts the hazard assessment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Crews already talk through hazards in their tailboard / Take 5. The form is a separate, slow, after-the-fact chore.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Standup mode: the AI never talks over the crew. It waits until they are done, then asks at most three critical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demo video here. Scenario 1 shows the clarification question about isolating live LV.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these are synthetic sample results; the real proof is the SME gold set and the shadow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CrewBrief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CrewBrief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The crew's pre-job briefing, turned into a completed hazard assessment</a:t>
            </a:r>
            <a:endParaRPr lang="en-US" sz="2200" dirty="0"/>
          </a:p>
        </p:txBody>
      </p:sp>
      <p:sp>
        <p:nvSpPr>
          <p:cNvPr id="4" name="Logo circle"/>
          <p:cNvSpPr/>
          <p:nvPr/>
        </p:nvSpPr>
        <p:spPr>
          <a:xfrm>
            <a:off x="731520" y="822960"/>
            <a:ext cx="1005840" cy="100584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5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044245"/>
            <a:ext cx="563270" cy="563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for utility field crews · Built on Azure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job starts with a 40-minute form</a:t>
            </a:r>
            <a:endParaRPr lang="en-US" sz="3400" dirty="0"/>
          </a:p>
        </p:txBody>
      </p:sp>
      <p:sp>
        <p:nvSpPr>
          <p:cNvPr id="3" name="Stat card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complete a hazard assessment (JSA / SWMS) by hand, before every job</a:t>
            </a:r>
            <a:endParaRPr lang="en-US" sz="1800" dirty="0"/>
          </a:p>
        </p:txBody>
      </p:sp>
      <p:sp>
        <p:nvSpPr>
          <p:cNvPr id="6" name="Problem 1 circle"/>
          <p:cNvSpPr/>
          <p:nvPr/>
        </p:nvSpPr>
        <p:spPr>
          <a:xfrm>
            <a:off x="5303520" y="1554480"/>
            <a:ext cx="731520" cy="73152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pic>
        <p:nvPicPr>
          <p:cNvPr id="7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4454" y="171541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out of productive work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9385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fill the form in on the tailgate while the job waits.</a:t>
            </a:r>
            <a:endParaRPr lang="en-US" sz="1500" dirty="0"/>
          </a:p>
        </p:txBody>
      </p:sp>
      <p:sp>
        <p:nvSpPr>
          <p:cNvPr id="10" name="Problem 2 circle"/>
          <p:cNvSpPr/>
          <p:nvPr/>
        </p:nvSpPr>
        <p:spPr>
          <a:xfrm>
            <a:off x="5303520" y="3017520"/>
            <a:ext cx="731520" cy="73152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pic>
        <p:nvPicPr>
          <p:cNvPr id="11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454" y="317845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09360" y="2971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depends on who holds the pen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34015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discussed out loud never make it onto paper.</a:t>
            </a:r>
            <a:endParaRPr lang="en-US" sz="1500" dirty="0"/>
          </a:p>
        </p:txBody>
      </p:sp>
      <p:sp>
        <p:nvSpPr>
          <p:cNvPr id="14" name="Problem 3 circle"/>
          <p:cNvSpPr/>
          <p:nvPr/>
        </p:nvSpPr>
        <p:spPr>
          <a:xfrm>
            <a:off x="5303520" y="4480560"/>
            <a:ext cx="731520" cy="73152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pic>
        <p:nvPicPr>
          <p:cNvPr id="15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454" y="464149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4434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controls stay missed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48646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checks that a critical hazard has a real control until an audit.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Crews already say it out loud. Capture it.</a:t>
            </a:r>
            <a:endParaRPr lang="en-US" sz="3400" dirty="0"/>
          </a:p>
        </p:txBody>
      </p:sp>
      <p:sp>
        <p:nvSpPr>
          <p:cNvPr id="3" name="Today card"/>
          <p:cNvSpPr/>
          <p:nvPr/>
        </p:nvSpPr>
        <p:spPr>
          <a:xfrm>
            <a:off x="54864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talks through the job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hand writes the form afterwards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are lost between the two</a:t>
            </a:r>
            <a:endParaRPr lang="en-US" sz="1800" dirty="0"/>
          </a:p>
        </p:txBody>
      </p:sp>
      <p:sp>
        <p:nvSpPr>
          <p:cNvPr id="6" name="CrewBrief card"/>
          <p:cNvSpPr/>
          <p:nvPr/>
        </p:nvSpPr>
        <p:spPr>
          <a:xfrm>
            <a:off x="640080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CrewBrief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talks through the job, as normal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drafts itself from what was said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lead reviews and signs in minutes</a:t>
            </a:r>
            <a:endParaRPr lang="en-US" sz="1800" dirty="0"/>
          </a:p>
        </p:txBody>
      </p:sp>
      <p:sp>
        <p:nvSpPr>
          <p:cNvPr id="9" name="Arrow circle"/>
          <p:cNvSpPr/>
          <p:nvPr/>
        </p:nvSpPr>
        <p:spPr>
          <a:xfrm>
            <a:off x="5715000" y="3291840"/>
            <a:ext cx="731520" cy="73152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10" name="Arrow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934" y="3452774"/>
            <a:ext cx="409651" cy="4096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it works: one standup, one signed form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645920"/>
            <a:ext cx="2560320" cy="41148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circle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21012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Record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74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records the whole crew's briefing. Live, or upload a recording.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3383280" y="1645920"/>
            <a:ext cx="2560320" cy="41148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 circle"/>
          <p:cNvSpPr/>
          <p:nvPr/>
        </p:nvSpPr>
        <p:spPr>
          <a:xfrm>
            <a:off x="3657600" y="1920240"/>
            <a:ext cx="822960" cy="82296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10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651" y="210129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Understand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474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Speech separates the voices. AI maps what was said to the company hazard library.</a:t>
            </a:r>
            <a:endParaRPr lang="en-US" sz="1500" dirty="0"/>
          </a:p>
        </p:txBody>
      </p:sp>
      <p:sp>
        <p:nvSpPr>
          <p:cNvPr id="13" name="Step 3"/>
          <p:cNvSpPr/>
          <p:nvPr/>
        </p:nvSpPr>
        <p:spPr>
          <a:xfrm>
            <a:off x="6217920" y="1645920"/>
            <a:ext cx="2560320" cy="41148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3 circle"/>
          <p:cNvSpPr/>
          <p:nvPr/>
        </p:nvSpPr>
        <p:spPr>
          <a:xfrm>
            <a:off x="6492240" y="1920240"/>
            <a:ext cx="822960" cy="82296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15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1" y="210129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Clarify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474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interruptions. At the end, CrewBrief asks only the critical questions it still has.</a:t>
            </a:r>
            <a:endParaRPr lang="en-US" sz="1500" dirty="0"/>
          </a:p>
        </p:txBody>
      </p:sp>
      <p:sp>
        <p:nvSpPr>
          <p:cNvPr id="18" name="Step 4"/>
          <p:cNvSpPr/>
          <p:nvPr/>
        </p:nvSpPr>
        <p:spPr>
          <a:xfrm>
            <a:off x="9052560" y="1645920"/>
            <a:ext cx="2560320" cy="41148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4 circle"/>
          <p:cNvSpPr/>
          <p:nvPr/>
        </p:nvSpPr>
        <p:spPr>
          <a:xfrm>
            <a:off x="9326880" y="1920240"/>
            <a:ext cx="822960" cy="82296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20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931" y="210129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Sign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4747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lead reviews the drafted form with evidence for every field, then signs and submits.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Live demo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LV service connection · Pole replacement with a crane · Night storm restoration</a:t>
            </a:r>
            <a:endParaRPr lang="en-US" sz="2200" dirty="0"/>
          </a:p>
        </p:txBody>
      </p:sp>
      <p:sp>
        <p:nvSpPr>
          <p:cNvPr id="4" name="Play circle"/>
          <p:cNvSpPr/>
          <p:nvPr/>
        </p:nvSpPr>
        <p:spPr>
          <a:xfrm>
            <a:off x="731520" y="822960"/>
            <a:ext cx="1005840" cy="100584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5" name="Pl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04424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so a wrong form never looks complete</a:t>
            </a:r>
            <a:endParaRPr lang="en-US" sz="3400" dirty="0"/>
          </a:p>
        </p:txBody>
      </p:sp>
      <p:sp>
        <p:nvSpPr>
          <p:cNvPr id="3" name="Trust 1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rust 1 circle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</p:sp>
      <p:pic>
        <p:nvPicPr>
          <p:cNvPr id="5" name="Trus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0354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for every field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hazard and control links to the exact words the crew said.</a:t>
            </a:r>
            <a:endParaRPr lang="en-US" sz="1500" dirty="0"/>
          </a:p>
        </p:txBody>
      </p:sp>
      <p:sp>
        <p:nvSpPr>
          <p:cNvPr id="8" name="Trust 2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rust 2 circle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</p:sp>
      <p:pic>
        <p:nvPicPr>
          <p:cNvPr id="10" name="Trus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4" y="20354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rules in code, not prompts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hazard needs an isolation or engineering control. Absence is never assumed.</a:t>
            </a:r>
            <a:endParaRPr lang="en-US" sz="1500" dirty="0"/>
          </a:p>
        </p:txBody>
      </p:sp>
      <p:sp>
        <p:nvSpPr>
          <p:cNvPr id="13" name="Trust 3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rust 3 circle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</p:sp>
      <p:pic>
        <p:nvPicPr>
          <p:cNvPr id="15" name="Trus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32145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always signs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617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never submitted without the crew lead's sign-off.</a:t>
            </a:r>
            <a:endParaRPr lang="en-US" sz="1500" dirty="0"/>
          </a:p>
        </p:txBody>
      </p:sp>
      <p:sp>
        <p:nvSpPr>
          <p:cNvPr id="18" name="Trust 4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rust 4 circle"/>
          <p:cNvSpPr/>
          <p:nvPr/>
        </p:nvSpPr>
        <p:spPr>
          <a:xfrm>
            <a:off x="6492240" y="4160520"/>
            <a:ext cx="731520" cy="731520"/>
          </a:xfrm>
          <a:prstGeom prst="ellipse">
            <a:avLst/>
          </a:prstGeom>
          <a:solidFill>
            <a:srgbClr val="1B2A35"/>
          </a:solidFill>
          <a:ln w="12700">
            <a:solidFill>
              <a:srgbClr val="1B2A35"/>
            </a:solidFill>
            <a:prstDash val="solid"/>
          </a:ln>
        </p:spPr>
      </p:sp>
      <p:pic>
        <p:nvPicPr>
          <p:cNvPr id="20" name="Trus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4" y="432145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617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records its source, model and prompt version, and who approved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Measured, not assumed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548640" y="155448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hazard recall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98%</a:t>
            </a:r>
            <a:endParaRPr lang="en-US" sz="1400" dirty="0"/>
          </a:p>
        </p:txBody>
      </p:sp>
      <p:sp>
        <p:nvSpPr>
          <p:cNvPr id="7" name="Stat 2"/>
          <p:cNvSpPr/>
          <p:nvPr/>
        </p:nvSpPr>
        <p:spPr>
          <a:xfrm>
            <a:off x="4343400" y="155448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backed by evidence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95%</a:t>
            </a:r>
            <a:endParaRPr lang="en-US" sz="1400" dirty="0"/>
          </a:p>
        </p:txBody>
      </p:sp>
      <p:sp>
        <p:nvSpPr>
          <p:cNvPr id="11" name="Stat 3"/>
          <p:cNvSpPr/>
          <p:nvPr/>
        </p:nvSpPr>
        <p:spPr>
          <a:xfrm>
            <a:off x="8138160" y="155448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(hallucinated) fields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 2%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evaluation on 6 synthetic briefings (sample set). Every pull request runs this gate in CI. Next: 20 real briefings scored by safety experts, then a shadow pilot.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Enterprise-ready on Azure</a:t>
            </a:r>
            <a:endParaRPr lang="en-US" sz="3400" dirty="0"/>
          </a:p>
        </p:txBody>
      </p:sp>
      <p:sp>
        <p:nvSpPr>
          <p:cNvPr id="3" name="Service 1"/>
          <p:cNvSpPr/>
          <p:nvPr/>
        </p:nvSpPr>
        <p:spPr>
          <a:xfrm>
            <a:off x="548640" y="155448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rvice 1 circle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5" name="Servi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3" y="213695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Speech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and speaker separation</a:t>
            </a:r>
            <a:endParaRPr lang="en-US" sz="1400" dirty="0"/>
          </a:p>
        </p:txBody>
      </p:sp>
      <p:sp>
        <p:nvSpPr>
          <p:cNvPr id="8" name="Service 2"/>
          <p:cNvSpPr/>
          <p:nvPr/>
        </p:nvSpPr>
        <p:spPr>
          <a:xfrm>
            <a:off x="4343400" y="155448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rvice 2 circle"/>
          <p:cNvSpPr/>
          <p:nvPr/>
        </p:nvSpPr>
        <p:spPr>
          <a:xfrm>
            <a:off x="4572000" y="196596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10" name="Servi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93" y="213695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briefing, checks the draft</a:t>
            </a:r>
            <a:endParaRPr lang="en-US" sz="1400" dirty="0"/>
          </a:p>
        </p:txBody>
      </p:sp>
      <p:sp>
        <p:nvSpPr>
          <p:cNvPr id="13" name="Service 3"/>
          <p:cNvSpPr/>
          <p:nvPr/>
        </p:nvSpPr>
        <p:spPr>
          <a:xfrm>
            <a:off x="8138160" y="155448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ervice 3 circle"/>
          <p:cNvSpPr/>
          <p:nvPr/>
        </p:nvSpPr>
        <p:spPr>
          <a:xfrm>
            <a:off x="8366760" y="196596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15" name="Servic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213695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2688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Search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32688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hazard and control library</a:t>
            </a:r>
            <a:endParaRPr lang="en-US" sz="1400" dirty="0"/>
          </a:p>
        </p:txBody>
      </p:sp>
      <p:sp>
        <p:nvSpPr>
          <p:cNvPr id="18" name="Service 4"/>
          <p:cNvSpPr/>
          <p:nvPr/>
        </p:nvSpPr>
        <p:spPr>
          <a:xfrm>
            <a:off x="548640" y="347472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ervice 4 circle"/>
          <p:cNvSpPr/>
          <p:nvPr/>
        </p:nvSpPr>
        <p:spPr>
          <a:xfrm>
            <a:off x="777240" y="388620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20" name="Servic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3" y="4057193"/>
            <a:ext cx="435254" cy="435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 DB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737360" y="4251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transcripts, audit log</a:t>
            </a:r>
            <a:endParaRPr lang="en-US" sz="1400" dirty="0"/>
          </a:p>
        </p:txBody>
      </p:sp>
      <p:sp>
        <p:nvSpPr>
          <p:cNvPr id="23" name="Service 5"/>
          <p:cNvSpPr/>
          <p:nvPr/>
        </p:nvSpPr>
        <p:spPr>
          <a:xfrm>
            <a:off x="4343400" y="347472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ervice 5 circle"/>
          <p:cNvSpPr/>
          <p:nvPr/>
        </p:nvSpPr>
        <p:spPr>
          <a:xfrm>
            <a:off x="4572000" y="388620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25" name="Servic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993" y="4057193"/>
            <a:ext cx="435254" cy="43525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321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PubSub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532120" y="4251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to the crew's screen</a:t>
            </a:r>
            <a:endParaRPr lang="en-US" sz="1400" dirty="0"/>
          </a:p>
        </p:txBody>
      </p:sp>
      <p:sp>
        <p:nvSpPr>
          <p:cNvPr id="28" name="Service 6"/>
          <p:cNvSpPr/>
          <p:nvPr/>
        </p:nvSpPr>
        <p:spPr>
          <a:xfrm>
            <a:off x="8138160" y="347472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ervice 6 circle"/>
          <p:cNvSpPr/>
          <p:nvPr/>
        </p:nvSpPr>
        <p:spPr>
          <a:xfrm>
            <a:off x="8366760" y="388620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30" name="Servic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753" y="4057193"/>
            <a:ext cx="435254" cy="43525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268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Apps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9326880" y="4251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services for 1,000+ crews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orchestrator (not an LLM) decides what runs when, so every decision is auditable. Infrastructure as code (Bicep, azd); CI with an accuracy gate.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Privacy and security by default</a:t>
            </a:r>
            <a:endParaRPr lang="en-US" sz="3400" dirty="0"/>
          </a:p>
        </p:txBody>
      </p:sp>
      <p:sp>
        <p:nvSpPr>
          <p:cNvPr id="3" name="Privacy 1 circle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4" name="Privac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3" y="1634033"/>
            <a:ext cx="435254" cy="435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raw audio stored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only, with personal details redacted.</a:t>
            </a:r>
            <a:endParaRPr lang="en-US" sz="1500" dirty="0"/>
          </a:p>
        </p:txBody>
      </p:sp>
      <p:sp>
        <p:nvSpPr>
          <p:cNvPr id="7" name="Privacy 2 circle"/>
          <p:cNvSpPr/>
          <p:nvPr/>
        </p:nvSpPr>
        <p:spPr>
          <a:xfrm>
            <a:off x="548640" y="2651760"/>
            <a:ext cx="777240" cy="7772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8" name="Privac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3" y="2822753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voice biometrics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 are separated, never identified by voiceprint.</a:t>
            </a:r>
            <a:endParaRPr lang="en-US" sz="1500" dirty="0"/>
          </a:p>
        </p:txBody>
      </p:sp>
      <p:sp>
        <p:nvSpPr>
          <p:cNvPr id="11" name="Privacy 3 circle"/>
          <p:cNvSpPr/>
          <p:nvPr/>
        </p:nvSpPr>
        <p:spPr>
          <a:xfrm>
            <a:off x="548640" y="3840480"/>
            <a:ext cx="777240" cy="7772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12" name="Privac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3" y="4011473"/>
            <a:ext cx="435254" cy="435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Crews are told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recording notice is acknowledged before every briefing.</a:t>
            </a:r>
            <a:endParaRPr lang="en-US" sz="1500" dirty="0"/>
          </a:p>
        </p:txBody>
      </p:sp>
      <p:sp>
        <p:nvSpPr>
          <p:cNvPr id="15" name="Privacy 4 circle"/>
          <p:cNvSpPr/>
          <p:nvPr/>
        </p:nvSpPr>
        <p:spPr>
          <a:xfrm>
            <a:off x="548640" y="5029200"/>
            <a:ext cx="777240" cy="7772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16" name="Privac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3" y="5200193"/>
            <a:ext cx="435254" cy="4352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5029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data residency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5440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networking, managed identity, Entra ID sign-in.</a:t>
            </a:r>
            <a:endParaRPr lang="en-US" sz="1500" dirty="0"/>
          </a:p>
        </p:txBody>
      </p:sp>
      <p:sp>
        <p:nvSpPr>
          <p:cNvPr id="19" name="Compliance card"/>
          <p:cNvSpPr/>
          <p:nvPr/>
        </p:nvSpPr>
        <p:spPr>
          <a:xfrm>
            <a:off x="6583680" y="1463040"/>
            <a:ext cx="502920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949440" y="18288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needs legal review under workplace surveillance and listening-device laws in each state.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6949440" y="40233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CrewBrief assists with hazard assessment. It does not replace the crew's responsibility for job safety.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time comes back to the job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mpact card"/>
          <p:cNvSpPr/>
          <p:nvPr/>
        </p:nvSpPr>
        <p:spPr>
          <a:xfrm>
            <a:off x="7040880" y="1645920"/>
            <a:ext cx="4572000" cy="402336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9202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≈580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3383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crew-hours back every working day across 1,000 crews (35 minutes saved per form, one form per crew per day)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prototype to every crew</a:t>
            </a:r>
            <a:endParaRPr lang="en-US" sz="3400" dirty="0"/>
          </a:p>
        </p:txBody>
      </p:sp>
      <p:sp>
        <p:nvSpPr>
          <p:cNvPr id="3" name="Timeline"/>
          <p:cNvSpPr/>
          <p:nvPr/>
        </p:nvSpPr>
        <p:spPr>
          <a:xfrm>
            <a:off x="822960" y="2240280"/>
            <a:ext cx="10515600" cy="0"/>
          </a:xfrm>
          <a:prstGeom prst="line">
            <a:avLst/>
          </a:prstGeom>
          <a:noFill/>
          <a:ln w="25400">
            <a:solidFill>
              <a:srgbClr val="8A9BA8"/>
            </a:solidFill>
            <a:prstDash val="solid"/>
          </a:ln>
        </p:spPr>
      </p:sp>
      <p:sp>
        <p:nvSpPr>
          <p:cNvPr id="4" name="Milestone 1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schema, hazard library, live pipeline, standup clarifications, eval gate</a:t>
            </a:r>
            <a:endParaRPr lang="en-US" sz="1500" dirty="0"/>
          </a:p>
        </p:txBody>
      </p:sp>
      <p:sp>
        <p:nvSpPr>
          <p:cNvPr id="8" name="Milestone 2"/>
          <p:cNvSpPr/>
          <p:nvPr/>
        </p:nvSpPr>
        <p:spPr>
          <a:xfrm>
            <a:off x="3520440" y="201168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data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2918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real briefings scored by safety experts; Azure speech tuned on utility terms</a:t>
            </a:r>
            <a:endParaRPr lang="en-US" sz="1500" dirty="0"/>
          </a:p>
        </p:txBody>
      </p:sp>
      <p:sp>
        <p:nvSpPr>
          <p:cNvPr id="12" name="Milestone 3"/>
          <p:cNvSpPr/>
          <p:nvPr/>
        </p:nvSpPr>
        <p:spPr>
          <a:xfrm>
            <a:off x="6355080" y="2011680"/>
            <a:ext cx="457200" cy="45720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pilot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918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crews fill forms as today while CrewBrief drafts in parallel</a:t>
            </a:r>
            <a:endParaRPr lang="en-US" sz="1500" dirty="0"/>
          </a:p>
        </p:txBody>
      </p:sp>
      <p:sp>
        <p:nvSpPr>
          <p:cNvPr id="16" name="Milestone 4"/>
          <p:cNvSpPr/>
          <p:nvPr/>
        </p:nvSpPr>
        <p:spPr>
          <a:xfrm>
            <a:off x="9189720" y="2011680"/>
            <a:ext cx="457200" cy="457200"/>
          </a:xfrm>
          <a:prstGeom prst="ellipse">
            <a:avLst/>
          </a:prstGeom>
          <a:solidFill>
            <a:srgbClr val="3D5363"/>
          </a:solidFill>
          <a:ln w="12700">
            <a:solidFill>
              <a:srgbClr val="3D53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2918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throughput, multi-region speech, offline mode for poor coverage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work-order and switching-instruction context, weather and fire-danger inputs.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Let's pilot it with 10 crews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We need: a pilot depot, 20 recorded briefings for the gold set, and an Azure subscription in Australia East</a:t>
            </a:r>
            <a:endParaRPr lang="en-US" sz="2200" dirty="0"/>
          </a:p>
        </p:txBody>
      </p:sp>
      <p:sp>
        <p:nvSpPr>
          <p:cNvPr id="4" name="Handshake circle"/>
          <p:cNvSpPr/>
          <p:nvPr/>
        </p:nvSpPr>
        <p:spPr>
          <a:xfrm>
            <a:off x="731520" y="822960"/>
            <a:ext cx="1005840" cy="100584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5" name="Handshak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04424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ewBrief">
  <a:themeElements>
    <a:clrScheme name="CrewBrief">
      <a:dk1>
        <a:srgbClr val="1B2A35"/>
      </a:dk1>
      <a:lt1>
        <a:srgbClr val="FFFFFF"/>
      </a:lt1>
      <a:dk2>
        <a:srgbClr val="3D5363"/>
      </a:dk2>
      <a:lt2>
        <a:srgbClr val="EEF2F5"/>
      </a:lt2>
      <a:accent1>
        <a:srgbClr val="F26B1D"/>
      </a:accent1>
      <a:accent2>
        <a:srgbClr val="2E7D5B"/>
      </a:accent2>
      <a:accent3>
        <a:srgbClr val="C62828"/>
      </a:accent3>
      <a:accent4>
        <a:srgbClr val="5B8DB8"/>
      </a:accent4>
      <a:accent5>
        <a:srgbClr val="8A9BA8"/>
      </a:accent5>
      <a:accent6>
        <a:srgbClr val="F2B01D"/>
      </a:accent6>
      <a:hlink>
        <a:srgbClr val="F26B1D"/>
      </a:hlink>
      <a:folHlink>
        <a:srgbClr val="3D5363"/>
      </a:folHlink>
    </a:clrScheme>
    <a:fontScheme name="CrewBrief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CrewBrief</dc:title>
  <dc:subject>PptxGenJS Presentation</dc:subject>
  <dc:creator>Akhil Rajan</dc:creator>
  <cp:lastModifiedBy>Akhil Rajan</cp:lastModifiedBy>
  <cp:revision>1</cp:revision>
  <dcterms:created xsi:type="dcterms:W3CDTF">2026-10-30T00:40:14Z</dcterms:created>
  <dcterms:modified xsi:type="dcterms:W3CDTF">2026-10-30T00:40:14Z</dcterms:modified>
</cp:coreProperties>
</file>